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1911-5A56-3629-2B80-CA06D39E4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BCE52-7612-A060-525B-56BEB0AC4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982FC-92AF-7401-456A-119C425A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6F15B-EE87-300A-6821-F1DA6069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3FCE5-C986-6FD2-59FF-D9AFBA4D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41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0C90-55AE-C8CA-A1C3-4C2214E3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718BA-C6B8-97EE-C9DD-2C91B5055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B4A9-58A3-8980-BFC7-80716BB7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AD047-D8CF-8881-7892-2D90F65D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3A21D-859B-70E4-E4C3-02BCF80C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6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86B8-D0CC-D083-61E4-E10180A6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D260E-4F63-2479-622C-9E2B65DC5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E86CF-6066-D5F5-B6F6-667A464A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F9224-18C8-A250-7395-C41C4BD9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E21E-CC0F-9722-6BD2-FC12C096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92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BAC5-E918-A162-8CA7-D70A2C11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89CC-E44F-BAA6-36A7-F45562852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C6013-33BF-35F5-B93A-01362B317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3B0CA-B442-85D1-D014-3C954641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8A61D-3F49-1B41-6AAD-81DAF719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25760-F2ED-90A1-0826-571F6DF4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6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D37F-764E-DFB2-5B86-7B6A74F6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ED0B8-F237-941B-C90D-3C00AFE5D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4709A-E30E-361B-C173-284DFB4D2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DCE9A-38DA-E1F2-E155-43A0AFF68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6CEE7-D9C4-9B21-9745-EC0B12190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22B05-C5F0-04ED-8702-875E5F00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5428BA-9338-0030-5B85-8E2B235B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E843A2-61CB-137A-1CC1-6399EB01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9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886F-0415-9E36-B6F1-20385AA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D36A2-A5E0-5386-84A1-FBEFC5BD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00639-6FB4-A658-FD68-A56F0250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C1CA3-D438-ABCA-3D6D-C394E252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2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EEBD2-AF75-E6D3-E793-202F915D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CB703-C7A7-2479-A12A-13BD6A8A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44B65-683C-D0E3-32A7-00F3656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89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B9E7-A3F6-8145-EC49-27392B09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AC14-FC70-DEA4-ABC1-6D139D9C8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2703B-5CDB-4202-2E6D-C13776C33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18CBD-7949-2BDB-CF33-B0F89647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EDF38-BF1D-50EC-DA6F-EDAE0CCA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C7947-AF46-6D3A-FE42-12F0D075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1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7787-CACB-4FAF-C235-D3E59E8D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00379-CD73-01EC-8F70-9065D42BD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D7E6C-1714-BD2C-16EE-40B8E904D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AB3A7-3FC8-273A-7A3B-31A1717A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ABA7-7910-9659-7A17-9A2016D7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DF8EC-DAFB-42E4-566D-F0364BCC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90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9F96-BA0D-C8DA-FF93-59C49571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40057-B0E5-9729-7A5B-721C8BAF7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98CCF-9B6C-0197-9C0E-8256B41D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1338-4C94-6985-1930-563AEC2B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286A-ADF2-992F-6BAB-679FFC7B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6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2FA37-A08E-21D1-B3FD-E827D472C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C42CD-AE22-4C55-643A-FF355C20B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720D1-1034-05E1-D7FA-2FB1CE61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AB6D-6394-D853-9955-B449EFC1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4966F-6A1D-12CD-3569-31719146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9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0B9D3-96DF-4709-B09E-C0F7EC45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D4A9B-0A6A-BADA-7C9F-2E6F33BE4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DE19-9A19-0245-99A7-DEDCE81A3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62E28-3230-4A84-917D-5A2488898DF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7EAE-3BFA-D2CD-32EF-55BF37074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C8A33-C9C7-F660-362B-BBD4CBF33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443FC-15B6-4918-8F66-ABE2A66809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73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FCE41-6F0C-90E6-FB4A-7CF56160E934}"/>
              </a:ext>
            </a:extLst>
          </p:cNvPr>
          <p:cNvSpPr/>
          <p:nvPr/>
        </p:nvSpPr>
        <p:spPr>
          <a:xfrm>
            <a:off x="1349298" y="892098"/>
            <a:ext cx="8341112" cy="4393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Sitemap</a:t>
            </a:r>
          </a:p>
          <a:p>
            <a:r>
              <a:rPr lang="en-US" dirty="0"/>
              <a:t>Home </a:t>
            </a:r>
          </a:p>
          <a:p>
            <a:r>
              <a:rPr lang="en-US" dirty="0"/>
              <a:t>Human Capital Solutions </a:t>
            </a:r>
          </a:p>
          <a:p>
            <a:r>
              <a:rPr lang="en-US" dirty="0"/>
              <a:t>Analytics Solutions </a:t>
            </a:r>
          </a:p>
          <a:p>
            <a:r>
              <a:rPr lang="en-US" dirty="0"/>
              <a:t>Why Speegile </a:t>
            </a:r>
          </a:p>
          <a:p>
            <a:r>
              <a:rPr lang="en-US" dirty="0"/>
              <a:t>About Us </a:t>
            </a:r>
          </a:p>
          <a:p>
            <a:r>
              <a:rPr lang="en-US" dirty="0"/>
              <a:t>Contact </a:t>
            </a:r>
          </a:p>
          <a:p>
            <a:endParaRPr lang="en-US" dirty="0"/>
          </a:p>
          <a:p>
            <a:r>
              <a:rPr lang="en-US" dirty="0"/>
              <a:t>Optional later:</a:t>
            </a:r>
          </a:p>
          <a:p>
            <a:r>
              <a:rPr lang="en-US" dirty="0"/>
              <a:t>Case Studies </a:t>
            </a:r>
          </a:p>
          <a:p>
            <a:r>
              <a:rPr lang="en-US" dirty="0"/>
              <a:t>Careers</a:t>
            </a:r>
          </a:p>
        </p:txBody>
      </p:sp>
    </p:spTree>
    <p:extLst>
      <p:ext uri="{BB962C8B-B14F-4D97-AF65-F5344CB8AC3E}">
        <p14:creationId xmlns:p14="http://schemas.microsoft.com/office/powerpoint/2010/main" val="84110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2A249-DDEE-9CDA-2EBC-40430856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4D1DC5-0317-0CBD-EA60-8E827C02D16C}"/>
              </a:ext>
            </a:extLst>
          </p:cNvPr>
          <p:cNvSpPr/>
          <p:nvPr/>
        </p:nvSpPr>
        <p:spPr>
          <a:xfrm>
            <a:off x="415848" y="666156"/>
            <a:ext cx="8341112" cy="1067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Headline:</a:t>
            </a:r>
          </a:p>
          <a:p>
            <a:r>
              <a:rPr lang="en-US" sz="1400" b="1" dirty="0"/>
              <a:t>Helping Businesses Grow Through People and Data</a:t>
            </a:r>
            <a:endParaRPr lang="en-US" sz="1400" dirty="0"/>
          </a:p>
          <a:p>
            <a:r>
              <a:rPr lang="en-US" sz="1400" b="1" dirty="0" err="1"/>
              <a:t>Subheadline</a:t>
            </a:r>
            <a:r>
              <a:rPr lang="en-US" sz="1400" b="1" dirty="0"/>
              <a:t>:</a:t>
            </a:r>
          </a:p>
          <a:p>
            <a:r>
              <a:rPr lang="en-US" sz="1400" dirty="0"/>
              <a:t>Recruitment, staffing, training, and business analytics solutions designed for practical results.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19BFB-F461-ADA6-3262-857FA68668C8}"/>
              </a:ext>
            </a:extLst>
          </p:cNvPr>
          <p:cNvSpPr txBox="1"/>
          <p:nvPr/>
        </p:nvSpPr>
        <p:spPr>
          <a:xfrm>
            <a:off x="142875" y="82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HOME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F7E79-9C05-610E-B306-B81BB9ED408F}"/>
              </a:ext>
            </a:extLst>
          </p:cNvPr>
          <p:cNvSpPr/>
          <p:nvPr/>
        </p:nvSpPr>
        <p:spPr>
          <a:xfrm>
            <a:off x="415848" y="1829199"/>
            <a:ext cx="8341112" cy="633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What We Do</a:t>
            </a:r>
          </a:p>
          <a:p>
            <a:r>
              <a:rPr lang="en-US" sz="1400" dirty="0"/>
              <a:t>Speegile supports growing businesses through two focused service areas.</a:t>
            </a:r>
            <a:endParaRPr lang="en-US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B1C22-4329-D0B6-C9AC-2C6C612FA05C}"/>
              </a:ext>
            </a:extLst>
          </p:cNvPr>
          <p:cNvSpPr/>
          <p:nvPr/>
        </p:nvSpPr>
        <p:spPr>
          <a:xfrm>
            <a:off x="415848" y="2643666"/>
            <a:ext cx="5028967" cy="2461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Human Capital Solutions</a:t>
            </a:r>
          </a:p>
          <a:p>
            <a:r>
              <a:rPr lang="en-US" sz="1400" dirty="0"/>
              <a:t>Connect with the right talent to build stronger teams for sustainable growth.</a:t>
            </a:r>
          </a:p>
          <a:p>
            <a:endParaRPr lang="en-US" sz="1400" b="1" dirty="0"/>
          </a:p>
          <a:p>
            <a:r>
              <a:rPr lang="en-US" sz="1400" b="1" dirty="0"/>
              <a:t>Services:</a:t>
            </a:r>
            <a:endParaRPr lang="en-US" sz="1400" dirty="0"/>
          </a:p>
          <a:p>
            <a:r>
              <a:rPr lang="en-US" sz="1400" dirty="0"/>
              <a:t>Recruitment </a:t>
            </a:r>
          </a:p>
          <a:p>
            <a:r>
              <a:rPr lang="en-US" sz="1400" dirty="0"/>
              <a:t>Staff Augmentation </a:t>
            </a:r>
          </a:p>
          <a:p>
            <a:r>
              <a:rPr lang="en-US" sz="1400" dirty="0"/>
              <a:t>Fresher Skill Development Programs </a:t>
            </a:r>
          </a:p>
          <a:p>
            <a:endParaRPr lang="en-US" sz="1400" b="1" dirty="0"/>
          </a:p>
          <a:p>
            <a:r>
              <a:rPr lang="en-US" sz="1400" b="1" dirty="0"/>
              <a:t>CTA:</a:t>
            </a:r>
            <a:r>
              <a:rPr lang="en-US" sz="1400" dirty="0"/>
              <a:t> Learn More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E468BC-6F99-BC92-A2D3-D97FA458571E}"/>
              </a:ext>
            </a:extLst>
          </p:cNvPr>
          <p:cNvSpPr/>
          <p:nvPr/>
        </p:nvSpPr>
        <p:spPr>
          <a:xfrm>
            <a:off x="5854623" y="2642040"/>
            <a:ext cx="5028967" cy="2461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Analytics Solutions</a:t>
            </a:r>
          </a:p>
          <a:p>
            <a:r>
              <a:rPr lang="en-US" sz="1400" dirty="0"/>
              <a:t>Convert business data into actionable insights that unlock sustainable growth.</a:t>
            </a:r>
          </a:p>
          <a:p>
            <a:endParaRPr lang="en-US" sz="1400" b="1" dirty="0"/>
          </a:p>
          <a:p>
            <a:r>
              <a:rPr lang="en-US" sz="1400" b="1" dirty="0"/>
              <a:t>Services:</a:t>
            </a:r>
            <a:endParaRPr lang="en-US" sz="1400" dirty="0"/>
          </a:p>
          <a:p>
            <a:r>
              <a:rPr lang="en-IN" sz="1400" dirty="0"/>
              <a:t>Analytics Consulting</a:t>
            </a:r>
          </a:p>
          <a:p>
            <a:r>
              <a:rPr lang="en-IN" sz="1400" dirty="0"/>
              <a:t>Analytics Platform</a:t>
            </a:r>
            <a:r>
              <a:rPr lang="en-US" sz="1400" dirty="0"/>
              <a:t> </a:t>
            </a:r>
          </a:p>
          <a:p>
            <a:endParaRPr lang="en-US" sz="1400" b="1" dirty="0"/>
          </a:p>
          <a:p>
            <a:r>
              <a:rPr lang="en-US" sz="1400" b="1" dirty="0"/>
              <a:t>CTA:</a:t>
            </a:r>
            <a:r>
              <a:rPr lang="en-US" sz="1400" dirty="0"/>
              <a:t> Learn More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D65940-D448-C9F2-87B1-3A0234E4D6F1}"/>
              </a:ext>
            </a:extLst>
          </p:cNvPr>
          <p:cNvSpPr txBox="1"/>
          <p:nvPr/>
        </p:nvSpPr>
        <p:spPr>
          <a:xfrm>
            <a:off x="9277350" y="1053842"/>
            <a:ext cx="2152650" cy="67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dirty="0"/>
              <a:t>CTA Buttons</a:t>
            </a:r>
          </a:p>
          <a:p>
            <a:r>
              <a:rPr lang="en-US" sz="1400" dirty="0"/>
              <a:t>Talk to Us </a:t>
            </a:r>
          </a:p>
          <a:p>
            <a:r>
              <a:rPr lang="en-US" sz="1400" dirty="0"/>
              <a:t>Explore Services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9AA40-3A7A-420A-F927-8E2A81BB70C3}"/>
              </a:ext>
            </a:extLst>
          </p:cNvPr>
          <p:cNvSpPr/>
          <p:nvPr/>
        </p:nvSpPr>
        <p:spPr>
          <a:xfrm>
            <a:off x="415848" y="5282724"/>
            <a:ext cx="8341112" cy="1493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Why Speegile</a:t>
            </a:r>
          </a:p>
          <a:p>
            <a:r>
              <a:rPr lang="en-US" sz="1400" dirty="0"/>
              <a:t>Business-first thinking </a:t>
            </a:r>
          </a:p>
          <a:p>
            <a:r>
              <a:rPr lang="en-IN" sz="1400" dirty="0"/>
              <a:t>Dependable</a:t>
            </a:r>
            <a:r>
              <a:rPr lang="en-US" sz="1400" dirty="0"/>
              <a:t>, transparent execution </a:t>
            </a:r>
          </a:p>
          <a:p>
            <a:r>
              <a:rPr lang="en-US" sz="1400" dirty="0"/>
              <a:t>Flexible engagement models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Long-term partnership mindset </a:t>
            </a:r>
          </a:p>
          <a:p>
            <a:r>
              <a:rPr lang="en-US" sz="1400" dirty="0"/>
              <a:t>Experienced leadership</a:t>
            </a:r>
          </a:p>
        </p:txBody>
      </p:sp>
    </p:spTree>
    <p:extLst>
      <p:ext uri="{BB962C8B-B14F-4D97-AF65-F5344CB8AC3E}">
        <p14:creationId xmlns:p14="http://schemas.microsoft.com/office/powerpoint/2010/main" val="320901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D8C3-C2DE-5B1E-6350-D97761C1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882601-C47D-B0BE-8F6F-AE0AB588C080}"/>
              </a:ext>
            </a:extLst>
          </p:cNvPr>
          <p:cNvSpPr/>
          <p:nvPr/>
        </p:nvSpPr>
        <p:spPr>
          <a:xfrm>
            <a:off x="432413" y="465768"/>
            <a:ext cx="8341112" cy="2257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Headline</a:t>
            </a:r>
          </a:p>
          <a:p>
            <a:r>
              <a:rPr lang="en-US" sz="1400" b="1" dirty="0"/>
              <a:t>Connect with the right talent to build stronger teams for sustainable growth.</a:t>
            </a:r>
          </a:p>
          <a:p>
            <a:r>
              <a:rPr lang="en-US" sz="1400" b="1" dirty="0" err="1"/>
              <a:t>Subheadline</a:t>
            </a:r>
            <a:endParaRPr lang="en-US" sz="1400" b="1" dirty="0"/>
          </a:p>
          <a:p>
            <a:r>
              <a:rPr lang="en-US" sz="1400" dirty="0"/>
              <a:t>Recruitment, staffing, and </a:t>
            </a:r>
            <a:r>
              <a:rPr lang="en-IN" sz="1400" dirty="0"/>
              <a:t>fresher skill development programs</a:t>
            </a:r>
            <a:r>
              <a:rPr lang="en-US" sz="1400" dirty="0"/>
              <a:t> designed for growing businesses.</a:t>
            </a:r>
          </a:p>
          <a:p>
            <a:endParaRPr lang="en-US" sz="1400" dirty="0"/>
          </a:p>
          <a:p>
            <a:r>
              <a:rPr lang="en-US" sz="1400" b="1" dirty="0"/>
              <a:t>Hiring the Right Talent Should Be Easier</a:t>
            </a:r>
          </a:p>
          <a:p>
            <a:r>
              <a:rPr lang="en-US" sz="1400" dirty="0"/>
              <a:t>Speegile helps businesses identify, hire, and develop talent across fresher to experienced talent needs. </a:t>
            </a:r>
          </a:p>
          <a:p>
            <a:r>
              <a:rPr lang="en-US" sz="1400" dirty="0"/>
              <a:t>We help businesses reduce their hiring effort by connecting them with genuine and relevant candidates.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E2A169-FF95-9E8E-ED53-B65A361140D0}"/>
              </a:ext>
            </a:extLst>
          </p:cNvPr>
          <p:cNvSpPr/>
          <p:nvPr/>
        </p:nvSpPr>
        <p:spPr>
          <a:xfrm>
            <a:off x="415848" y="2971629"/>
            <a:ext cx="8341112" cy="1759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What We Offer</a:t>
            </a:r>
          </a:p>
          <a:p>
            <a:r>
              <a:rPr lang="en-US" sz="1400" b="1" dirty="0"/>
              <a:t>Recruitment</a:t>
            </a:r>
          </a:p>
          <a:p>
            <a:r>
              <a:rPr lang="en-US" sz="1400" dirty="0"/>
              <a:t>We help businesses hire permanent talent from entry-level to experienced roles.</a:t>
            </a:r>
          </a:p>
          <a:p>
            <a:r>
              <a:rPr lang="en-US" sz="1400" b="1" dirty="0"/>
              <a:t>Staff Augmentation</a:t>
            </a:r>
          </a:p>
          <a:p>
            <a:r>
              <a:rPr lang="en-US" sz="1400" dirty="0"/>
              <a:t>We help businesses access contract and project-based resources based on their needs.</a:t>
            </a:r>
          </a:p>
          <a:p>
            <a:r>
              <a:rPr lang="en-US" sz="1400" b="1" dirty="0"/>
              <a:t>Fresher Skill Development Programs</a:t>
            </a:r>
          </a:p>
          <a:p>
            <a:r>
              <a:rPr lang="en-US" sz="1400" dirty="0"/>
              <a:t>We help businesses build pipelines of job-ready entry-level talent through customized development programs.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0053CF-560C-C73E-5509-C40068459514}"/>
              </a:ext>
            </a:extLst>
          </p:cNvPr>
          <p:cNvSpPr txBox="1"/>
          <p:nvPr/>
        </p:nvSpPr>
        <p:spPr>
          <a:xfrm>
            <a:off x="6095999" y="5049078"/>
            <a:ext cx="3717851" cy="1575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dirty="0"/>
              <a:t>Need Hiring Support or Team Expansion?</a:t>
            </a:r>
          </a:p>
          <a:p>
            <a:r>
              <a:rPr lang="en-US" sz="1400" dirty="0"/>
              <a:t>Let’s discuss your requirement.</a:t>
            </a:r>
          </a:p>
          <a:p>
            <a:r>
              <a:rPr lang="en-US" sz="1400" b="0" i="1" dirty="0"/>
              <a:t>Discover the Speegile advantage and </a:t>
            </a:r>
            <a:r>
              <a:rPr lang="en-IN" sz="1400" b="0" i="1" dirty="0"/>
              <a:t>strengthen </a:t>
            </a:r>
            <a:r>
              <a:rPr lang="en-US" sz="1400" b="0" i="1" dirty="0"/>
              <a:t>your workforce today.</a:t>
            </a:r>
          </a:p>
          <a:p>
            <a:r>
              <a:rPr lang="en-US" sz="1400" dirty="0"/>
              <a:t>[Talk to Us]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80618-7DA1-FD4B-3BE6-121445A25F71}"/>
              </a:ext>
            </a:extLst>
          </p:cNvPr>
          <p:cNvSpPr/>
          <p:nvPr/>
        </p:nvSpPr>
        <p:spPr>
          <a:xfrm>
            <a:off x="415848" y="4789579"/>
            <a:ext cx="5044462" cy="1929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Why Speegile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Practical understanding of business roles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 on relevant and genuine candidates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400" dirty="0"/>
              <a:t>Well-managed, process-driven hiring support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/>
              <a:t>Adaptable to changing business needs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Long-term partnership mindset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/>
              <a:t>Your reliable partner for human capital enrichment.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B6597-3222-87DB-FF9C-848CB198D40A}"/>
              </a:ext>
            </a:extLst>
          </p:cNvPr>
          <p:cNvSpPr txBox="1"/>
          <p:nvPr/>
        </p:nvSpPr>
        <p:spPr>
          <a:xfrm>
            <a:off x="0" y="1391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Human Capital Solutions </a:t>
            </a:r>
          </a:p>
        </p:txBody>
      </p:sp>
    </p:spTree>
    <p:extLst>
      <p:ext uri="{BB962C8B-B14F-4D97-AF65-F5344CB8AC3E}">
        <p14:creationId xmlns:p14="http://schemas.microsoft.com/office/powerpoint/2010/main" val="164816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7F51-B169-C730-26B0-64602867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E4CA5-8948-5BB3-2B77-8A6DCCE2B339}"/>
              </a:ext>
            </a:extLst>
          </p:cNvPr>
          <p:cNvSpPr/>
          <p:nvPr/>
        </p:nvSpPr>
        <p:spPr>
          <a:xfrm>
            <a:off x="432413" y="465768"/>
            <a:ext cx="8341112" cy="2043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Headline</a:t>
            </a:r>
          </a:p>
          <a:p>
            <a:r>
              <a:rPr lang="en-US" sz="1400" b="1" dirty="0"/>
              <a:t>Convert business data into actionable insights that unlock sustainable growth.</a:t>
            </a:r>
          </a:p>
          <a:p>
            <a:r>
              <a:rPr lang="en-US" sz="1400" b="1" dirty="0" err="1"/>
              <a:t>Subheadline</a:t>
            </a:r>
            <a:endParaRPr lang="en-US" sz="1400" b="1" dirty="0"/>
          </a:p>
          <a:p>
            <a:r>
              <a:rPr lang="en-US" sz="1400" dirty="0"/>
              <a:t>Dashboards, reporting, insights, and process improvement solutions designed for growing businesses.</a:t>
            </a:r>
          </a:p>
          <a:p>
            <a:endParaRPr lang="en-US" sz="1400" dirty="0"/>
          </a:p>
          <a:p>
            <a:r>
              <a:rPr lang="en-US" sz="1400" b="1" dirty="0"/>
              <a:t>Better Visibility Enables Better Performance</a:t>
            </a:r>
          </a:p>
          <a:p>
            <a:r>
              <a:rPr lang="en-US" sz="1400" dirty="0"/>
              <a:t>Many businesses have data but lack timely visibility, clear measures, and actionable insights.</a:t>
            </a:r>
          </a:p>
          <a:p>
            <a:r>
              <a:rPr lang="en-US" sz="1400" dirty="0"/>
              <a:t>Speegile helps businesses unlock valuable insights from data that improve sales, finance, operations, and overall performance.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8048F-83D0-CAE5-E40D-1469F5331C9A}"/>
              </a:ext>
            </a:extLst>
          </p:cNvPr>
          <p:cNvSpPr/>
          <p:nvPr/>
        </p:nvSpPr>
        <p:spPr>
          <a:xfrm>
            <a:off x="432413" y="2552261"/>
            <a:ext cx="8341112" cy="2648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What We Offer</a:t>
            </a:r>
          </a:p>
          <a:p>
            <a:r>
              <a:rPr lang="en-US" sz="1400" b="1" dirty="0"/>
              <a:t>Analytics Consulting</a:t>
            </a:r>
          </a:p>
          <a:p>
            <a:r>
              <a:rPr lang="en-US" sz="1400" dirty="0"/>
              <a:t>We help businesses define meaningful measures, uncover valuable insights, and identify improvement opportunities.</a:t>
            </a:r>
          </a:p>
          <a:p>
            <a:r>
              <a:rPr lang="en-US" sz="1400" b="1" dirty="0"/>
              <a:t>Includes:</a:t>
            </a:r>
            <a:r>
              <a:rPr lang="en-US" sz="1400" dirty="0"/>
              <a:t> Business pain-point assessment, KPI definition, </a:t>
            </a:r>
            <a:r>
              <a:rPr lang="en-IN" sz="1400" dirty="0"/>
              <a:t>analytics workflow design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Analytics Platform</a:t>
            </a:r>
          </a:p>
          <a:p>
            <a:r>
              <a:rPr lang="en-US" sz="1400" dirty="0"/>
              <a:t>Our platform gives businesses clear visibility through tailored dashboards, secure access, and decision-ready insights.</a:t>
            </a:r>
          </a:p>
          <a:p>
            <a:r>
              <a:rPr lang="en-US" sz="1400" dirty="0"/>
              <a:t>Includes: Custom dashboards, data integration setup, role-based access, automated refresh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7FE97-21B4-DE86-4998-32B8ECE1B50E}"/>
              </a:ext>
            </a:extLst>
          </p:cNvPr>
          <p:cNvSpPr/>
          <p:nvPr/>
        </p:nvSpPr>
        <p:spPr>
          <a:xfrm>
            <a:off x="432413" y="5218066"/>
            <a:ext cx="5044462" cy="1714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bg1"/>
                </a:solidFill>
              </a:rPr>
              <a:t>Why Speegile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/>
              <a:t>Clear understanding of business needs and challenges</a:t>
            </a:r>
            <a:r>
              <a:rPr lang="en-US" altLang="en-US" sz="1400" dirty="0"/>
              <a:t> 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400" dirty="0"/>
              <a:t>Fit-for-purpose, user-friendly analytics solutions</a:t>
            </a:r>
            <a:r>
              <a:rPr lang="en-US" altLang="en-US" sz="1400" dirty="0"/>
              <a:t> 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/>
              <a:t>Clear reporting with actionable insights</a:t>
            </a:r>
            <a:r>
              <a:rPr lang="en-US" altLang="en-US" sz="1400" dirty="0"/>
              <a:t>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Flexible engagement models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Long-term partnership mindset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400" i="1" dirty="0"/>
              <a:t>Understand Data. Unlock Growth.</a:t>
            </a:r>
            <a:endParaRPr lang="en-US" sz="1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90064-E672-6F4C-23C9-D67C0124A204}"/>
              </a:ext>
            </a:extLst>
          </p:cNvPr>
          <p:cNvSpPr txBox="1"/>
          <p:nvPr/>
        </p:nvSpPr>
        <p:spPr>
          <a:xfrm>
            <a:off x="0" y="53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Analytics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EEB68C-F7F6-1692-5498-3423A30AE472}"/>
              </a:ext>
            </a:extLst>
          </p:cNvPr>
          <p:cNvSpPr txBox="1"/>
          <p:nvPr/>
        </p:nvSpPr>
        <p:spPr>
          <a:xfrm>
            <a:off x="7510129" y="5201039"/>
            <a:ext cx="3717851" cy="1575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dirty="0"/>
              <a:t>Need Better Visibility and Control Across Your Business?</a:t>
            </a:r>
          </a:p>
          <a:p>
            <a:r>
              <a:rPr lang="en-US" sz="1400" dirty="0"/>
              <a:t>Let’s discuss your reporting and analytics needs.</a:t>
            </a:r>
          </a:p>
          <a:p>
            <a:r>
              <a:rPr lang="en-US" sz="1400" b="0" i="1" dirty="0"/>
              <a:t>Your journey to data-driven decisions starts here.</a:t>
            </a:r>
            <a:endParaRPr lang="en-US" sz="1400" b="0" dirty="0"/>
          </a:p>
          <a:p>
            <a:r>
              <a:rPr lang="en-US" sz="1400" dirty="0"/>
              <a:t>[Talk to Us]</a:t>
            </a:r>
          </a:p>
        </p:txBody>
      </p:sp>
    </p:spTree>
    <p:extLst>
      <p:ext uri="{BB962C8B-B14F-4D97-AF65-F5344CB8AC3E}">
        <p14:creationId xmlns:p14="http://schemas.microsoft.com/office/powerpoint/2010/main" val="4196875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2414-2E6B-A3AC-B744-A7C7DF94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0EBEAD-D7EC-D768-A658-0BF1619844A9}"/>
              </a:ext>
            </a:extLst>
          </p:cNvPr>
          <p:cNvSpPr txBox="1"/>
          <p:nvPr/>
        </p:nvSpPr>
        <p:spPr>
          <a:xfrm>
            <a:off x="0" y="1391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1B00D-5D4E-DEBF-38D9-39FFF2CC44EE}"/>
              </a:ext>
            </a:extLst>
          </p:cNvPr>
          <p:cNvSpPr/>
          <p:nvPr/>
        </p:nvSpPr>
        <p:spPr>
          <a:xfrm>
            <a:off x="432413" y="465768"/>
            <a:ext cx="8341112" cy="1022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Headline</a:t>
            </a:r>
          </a:p>
          <a:p>
            <a:r>
              <a:rPr lang="en-US" sz="1400" b="1" dirty="0"/>
              <a:t>Practical Solutions. Trusted Relationships. Sustainable Growth.</a:t>
            </a:r>
            <a:endParaRPr lang="en-US" sz="1400" dirty="0"/>
          </a:p>
          <a:p>
            <a:r>
              <a:rPr lang="en-US" sz="1400" b="1" dirty="0" err="1"/>
              <a:t>Subheadline</a:t>
            </a:r>
            <a:endParaRPr lang="en-US" sz="1400" b="1" dirty="0"/>
          </a:p>
          <a:p>
            <a:r>
              <a:rPr lang="en-US" sz="1400" dirty="0"/>
              <a:t>Speegile helps businesses grow through focused Human Capital and Analytics solutions.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F173A-F89C-51C7-4778-E52447824FAA}"/>
              </a:ext>
            </a:extLst>
          </p:cNvPr>
          <p:cNvSpPr/>
          <p:nvPr/>
        </p:nvSpPr>
        <p:spPr>
          <a:xfrm>
            <a:off x="432413" y="1605516"/>
            <a:ext cx="8341112" cy="2650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About Speegile</a:t>
            </a:r>
          </a:p>
          <a:p>
            <a:r>
              <a:rPr lang="en-US" sz="1400" dirty="0"/>
              <a:t>Established in 2018, Speegile supports growing businesses with dependable Human Capital and Analytics solutions.</a:t>
            </a:r>
          </a:p>
          <a:p>
            <a:r>
              <a:rPr lang="en-US" sz="1400" dirty="0"/>
              <a:t>Under the leadership of Purushottam Nivaskar, the company draws on 25+ years of professional experience including roles in organizations such as TCS.</a:t>
            </a:r>
          </a:p>
          <a:p>
            <a:endParaRPr lang="en-US" sz="1400" dirty="0"/>
          </a:p>
          <a:p>
            <a:r>
              <a:rPr lang="en-US" sz="1400" dirty="0"/>
              <a:t>Speegile has supported 25+ customers across India, with experience spanning Indian businesses, US-based IT consulting firms, European Software product companies, Indian fintech firms, and multiple non-IT sectors.</a:t>
            </a:r>
          </a:p>
          <a:p>
            <a:r>
              <a:rPr lang="en-US" sz="1400" dirty="0"/>
              <a:t>We believe stronger growth happens when the right people and the right decisions come together.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23448-7F81-2014-3421-ABE1A76A69E8}"/>
              </a:ext>
            </a:extLst>
          </p:cNvPr>
          <p:cNvSpPr txBox="1"/>
          <p:nvPr/>
        </p:nvSpPr>
        <p:spPr>
          <a:xfrm>
            <a:off x="8486775" y="5712524"/>
            <a:ext cx="2152650" cy="67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dirty="0"/>
              <a:t>CTA Buttons</a:t>
            </a:r>
          </a:p>
          <a:p>
            <a:r>
              <a:rPr lang="en-US" sz="1400" dirty="0"/>
              <a:t>Talk to Us </a:t>
            </a:r>
          </a:p>
          <a:p>
            <a:r>
              <a:rPr lang="en-US" sz="1400" dirty="0"/>
              <a:t>Explore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32D8E6-DA40-DC75-8466-0002E6AE22FD}"/>
              </a:ext>
            </a:extLst>
          </p:cNvPr>
          <p:cNvSpPr/>
          <p:nvPr/>
        </p:nvSpPr>
        <p:spPr>
          <a:xfrm>
            <a:off x="432413" y="4593265"/>
            <a:ext cx="2948740" cy="1584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Why Clients Work With Us</a:t>
            </a:r>
          </a:p>
          <a:p>
            <a:r>
              <a:rPr lang="en-US" sz="1400" dirty="0"/>
              <a:t>Business-first thinking </a:t>
            </a:r>
          </a:p>
          <a:p>
            <a:r>
              <a:rPr lang="en-IN" sz="1400" dirty="0"/>
              <a:t>Dependable</a:t>
            </a:r>
            <a:r>
              <a:rPr lang="en-US" sz="1400" dirty="0"/>
              <a:t>, transparent execution </a:t>
            </a:r>
          </a:p>
          <a:p>
            <a:r>
              <a:rPr lang="en-US" sz="1400" dirty="0"/>
              <a:t>Flexible engagement models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Long-term partnership mindset </a:t>
            </a:r>
          </a:p>
          <a:p>
            <a:r>
              <a:rPr lang="en-US" sz="1400" dirty="0"/>
              <a:t>Experienced leadership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5344E2-09BC-8C16-0B0B-FBF0EE3C1552}"/>
              </a:ext>
            </a:extLst>
          </p:cNvPr>
          <p:cNvSpPr/>
          <p:nvPr/>
        </p:nvSpPr>
        <p:spPr>
          <a:xfrm>
            <a:off x="4582633" y="4593265"/>
            <a:ext cx="2721934" cy="1701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PMN Photo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92C667-7481-98EE-046D-9D11F5F98D46}"/>
              </a:ext>
            </a:extLst>
          </p:cNvPr>
          <p:cNvSpPr/>
          <p:nvPr/>
        </p:nvSpPr>
        <p:spPr>
          <a:xfrm>
            <a:off x="4067950" y="6294474"/>
            <a:ext cx="3827721" cy="531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Purushottam Nivaskar</a:t>
            </a:r>
            <a:br>
              <a:rPr lang="en-US" sz="1200" dirty="0"/>
            </a:br>
            <a:r>
              <a:rPr lang="en-US" sz="1200" dirty="0"/>
              <a:t>Founder, Speegile</a:t>
            </a:r>
            <a:br>
              <a:rPr lang="en-US" sz="1200" dirty="0"/>
            </a:br>
            <a:r>
              <a:rPr lang="en-US" sz="1200" dirty="0"/>
              <a:t>25+ years in technology and business leadership.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52059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676</Words>
  <Application>Microsoft Office PowerPoint</Application>
  <PresentationFormat>Widescreen</PresentationFormat>
  <Paragraphs>124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Purushottam NIvaskar</dc:creator>
  <cp:lastModifiedBy>Purushottam NIvaskar</cp:lastModifiedBy>
  <cp:revision>34</cp:revision>
  <dcterms:created xsi:type="dcterms:W3CDTF">2026-04-25T11:44:07Z</dcterms:created>
  <dcterms:modified xsi:type="dcterms:W3CDTF">2026-04-26T08:28:23Z</dcterms:modified>
</cp:coreProperties>
</file>